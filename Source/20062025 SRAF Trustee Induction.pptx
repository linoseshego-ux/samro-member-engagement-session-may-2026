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6"/>
  </p:sldMasterIdLst>
  <p:notesMasterIdLst>
    <p:notesMasterId r:id="rId25"/>
  </p:notesMasterIdLst>
  <p:sldIdLst>
    <p:sldId id="294" r:id="rId7"/>
    <p:sldId id="293" r:id="rId8"/>
    <p:sldId id="271" r:id="rId9"/>
    <p:sldId id="306" r:id="rId10"/>
    <p:sldId id="308" r:id="rId11"/>
    <p:sldId id="309" r:id="rId12"/>
    <p:sldId id="310" r:id="rId13"/>
    <p:sldId id="327" r:id="rId14"/>
    <p:sldId id="325" r:id="rId15"/>
    <p:sldId id="317" r:id="rId16"/>
    <p:sldId id="318" r:id="rId17"/>
    <p:sldId id="319" r:id="rId18"/>
    <p:sldId id="320" r:id="rId19"/>
    <p:sldId id="321" r:id="rId20"/>
    <p:sldId id="326" r:id="rId21"/>
    <p:sldId id="328" r:id="rId22"/>
    <p:sldId id="323" r:id="rId23"/>
    <p:sldId id="287" r:id="rId24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D2"/>
    <a:srgbClr val="EE6A31"/>
    <a:srgbClr val="C87063"/>
    <a:srgbClr val="E2552A"/>
    <a:srgbClr val="C33627"/>
    <a:srgbClr val="AD3023"/>
    <a:srgbClr val="E3582D"/>
    <a:srgbClr val="AFABAB"/>
    <a:srgbClr val="EF8821"/>
    <a:srgbClr val="1430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93" autoAdjust="0"/>
    <p:restoredTop sz="86436" autoAdjust="0"/>
  </p:normalViewPr>
  <p:slideViewPr>
    <p:cSldViewPr snapToGrid="0" showGuides="1">
      <p:cViewPr varScale="1">
        <p:scale>
          <a:sx n="87" d="100"/>
          <a:sy n="87" d="100"/>
        </p:scale>
        <p:origin x="11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77E3C-1FF1-4A86-BADC-1D69A7D2C2C7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CA446-051D-427A-B11C-3A1C865ED7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453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9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722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321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9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216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335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51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273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49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51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536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02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7978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https://www.pexels.com/photo/adult-business-commerce-computer-530024/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07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https://www.pexels.com/photo/macbook-pro-684314/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CA446-051D-427A-B11C-3A1C865ED70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63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8A9B-1AA0-4298-9D63-0C5ED3E13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6FCB57-65E0-49B2-9101-E1E4A6242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E3386C-D735-4543-8C69-EB38CCDA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C9DF-70D3-4C91-8FB3-24F41D5664D3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84F7A8-568A-431F-B295-50DA792C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1CCA6-7945-4818-B5FC-06499755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FEF3-ED11-4168-B9BD-08E36D26F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71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8A401-1B4D-4159-AFA2-B78C7046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A43030-E325-4214-A445-2E47A088F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D40E3-13A7-439D-9BF7-33DF786EC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C9DF-70D3-4C91-8FB3-24F41D5664D3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FADDE8-E2FD-44F5-9CEB-BAA0D18B3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C7899-3CE5-47DC-B6F8-6E3C12CB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FEF3-ED11-4168-B9BD-08E36D26F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97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81D1DC-5B20-48BC-BACC-A73CA0D0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C9DF-70D3-4C91-8FB3-24F41D5664D3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08AB4C-CB41-446E-ADAB-D48ACAAB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2AF89C-E3B1-4509-9535-82D6849F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6FEF3-ED11-4168-B9BD-08E36D26F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97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AB12FC-0C82-419F-A326-A572A2886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72AD6A-CEE8-453A-9FE5-CAA5CE1CD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7DEF2-4917-4583-A7B8-20D303C45A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C9DF-70D3-4C91-8FB3-24F41D5664D3}" type="datetimeFigureOut">
              <a:rPr lang="zh-CN" altLang="en-US" smtClean="0"/>
              <a:t>2026/1/26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EAE6A-67A9-4B50-A748-04C850DF7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91509-4BBB-42F8-AACC-DAE97BCC9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6FEF3-ED11-4168-B9BD-08E36D26FF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87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tiff"/><Relationship Id="rId5" Type="http://schemas.openxmlformats.org/officeDocument/2006/relationships/image" Target="../media/image12.emf"/><Relationship Id="rId4" Type="http://schemas.openxmlformats.org/officeDocument/2006/relationships/package" Target="../embeddings/Microsoft_PowerPoint_Presentation.ppt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jpg"/><Relationship Id="rId7" Type="http://schemas.openxmlformats.org/officeDocument/2006/relationships/hyperlink" Target="http://www.robsav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_v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381" y="5356304"/>
            <a:ext cx="1709238" cy="13358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4989C3-2265-151B-C3ED-547418E82DA1}"/>
              </a:ext>
            </a:extLst>
          </p:cNvPr>
          <p:cNvSpPr txBox="1"/>
          <p:nvPr/>
        </p:nvSpPr>
        <p:spPr>
          <a:xfrm>
            <a:off x="23182" y="4026536"/>
            <a:ext cx="734469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  <a:p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20 June 2025</a:t>
            </a:r>
            <a:b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By: Greg Woolls</a:t>
            </a:r>
          </a:p>
          <a:p>
            <a:r>
              <a:rPr lang="en-US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Seshego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Consulting</a:t>
            </a:r>
            <a:b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samroqueries@seshego.co.za</a:t>
            </a:r>
            <a:b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n-ZA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0A1B8EC5-A88C-A3E2-06D6-4F408B9A8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364" y="1427904"/>
            <a:ext cx="4002191" cy="40021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65535C-B2EE-42F9-99D8-F68389059924}"/>
              </a:ext>
            </a:extLst>
          </p:cNvPr>
          <p:cNvSpPr txBox="1"/>
          <p:nvPr/>
        </p:nvSpPr>
        <p:spPr>
          <a:xfrm>
            <a:off x="0" y="165860"/>
            <a:ext cx="97504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SAMRO Retirement Annuity Fund: Trustee Induction</a:t>
            </a:r>
          </a:p>
        </p:txBody>
      </p:sp>
      <p:pic>
        <p:nvPicPr>
          <p:cNvPr id="5" name="Picture 4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EEFBD5B2-B022-1BA9-08D0-0C2DEA71C3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329" y="2883059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87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>
            <a:extLst>
              <a:ext uri="{FF2B5EF4-FFF2-40B4-BE49-F238E27FC236}">
                <a16:creationId xmlns:a16="http://schemas.microsoft.com/office/drawing/2014/main" id="{28AF7819-9981-FA47-B6C1-1DF11B74C9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1"/>
            <a:ext cx="12192000" cy="6900155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3DC6F91-CCAF-70A7-5132-D8C0B6B0959E}"/>
              </a:ext>
            </a:extLst>
          </p:cNvPr>
          <p:cNvSpPr txBox="1">
            <a:spLocks/>
          </p:cNvSpPr>
          <p:nvPr/>
        </p:nvSpPr>
        <p:spPr>
          <a:xfrm>
            <a:off x="38058" y="173197"/>
            <a:ext cx="9781764" cy="5965975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marR="0" lvl="0" indent="-4429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ZA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Agenda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ZA" sz="36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" panose="00000500000000000000" pitchFamily="2" charset="0"/>
            </a:endParaRP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Why belong to a Retirement Fund?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Fund Management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Contributions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en-ZA" sz="2800" dirty="0">
                <a:latin typeface="Montserrat" panose="00000500000000000000" pitchFamily="2" charset="0"/>
              </a:rPr>
              <a:t>Fund benefit</a:t>
            </a:r>
            <a:endParaRPr kumimoji="0" lang="en-ZA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ontserrat" panose="00000500000000000000" pitchFamily="2" charset="0"/>
            </a:endParaRP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Funeral cover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Investments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2 Pot Retirement system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Governance</a:t>
            </a:r>
          </a:p>
          <a:p>
            <a:pPr marL="1001395" lvl="2" indent="-273050">
              <a:lnSpc>
                <a:spcPct val="150000"/>
              </a:lnSpc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</a:rPr>
              <a:t>Communication</a:t>
            </a:r>
          </a:p>
          <a:p>
            <a:pPr marL="87313" indent="0">
              <a:buClr>
                <a:srgbClr val="00B0F0"/>
              </a:buClr>
              <a:buNone/>
            </a:pPr>
            <a:endParaRPr kumimoji="0" lang="en-ZA" sz="38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" panose="00000500000000000000" pitchFamily="2" charset="0"/>
            </a:endParaRPr>
          </a:p>
          <a:p>
            <a:pPr marL="727075" lvl="1" indent="-273050"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kumimoji="0" lang="en-ZA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AD1BE9-1356-A104-0038-67C6188A656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51290" y="1032212"/>
            <a:ext cx="5097708" cy="4779101"/>
          </a:xfrm>
          <a:prstGeom prst="rect">
            <a:avLst/>
          </a:prstGeom>
        </p:spPr>
      </p:pic>
      <p:sp>
        <p:nvSpPr>
          <p:cNvPr id="20" name="Shape 139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>
            <a:extLst>
              <a:ext uri="{FF2B5EF4-FFF2-40B4-BE49-F238E27FC236}">
                <a16:creationId xmlns:a16="http://schemas.microsoft.com/office/drawing/2014/main" id="{0E7B6008-8D9F-EC21-832D-8B62D7D054F3}"/>
              </a:ext>
            </a:extLst>
          </p:cNvPr>
          <p:cNvSpPr/>
          <p:nvPr/>
        </p:nvSpPr>
        <p:spPr>
          <a:xfrm>
            <a:off x="7890103" y="1617681"/>
            <a:ext cx="1220082" cy="122008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60000" y="114544"/>
                </a:moveTo>
                <a:cubicBezTo>
                  <a:pt x="29872" y="114544"/>
                  <a:pt x="5455" y="90127"/>
                  <a:pt x="5455" y="60000"/>
                </a:cubicBezTo>
                <a:cubicBezTo>
                  <a:pt x="5455" y="29872"/>
                  <a:pt x="29872" y="5455"/>
                  <a:pt x="60000" y="5455"/>
                </a:cubicBezTo>
                <a:cubicBezTo>
                  <a:pt x="90127" y="5455"/>
                  <a:pt x="114544" y="29872"/>
                  <a:pt x="114544" y="60000"/>
                </a:cubicBezTo>
                <a:cubicBezTo>
                  <a:pt x="114544" y="90127"/>
                  <a:pt x="90127" y="114544"/>
                  <a:pt x="60000" y="114544"/>
                </a:cubicBezTo>
                <a:moveTo>
                  <a:pt x="101555" y="103216"/>
                </a:moveTo>
                <a:cubicBezTo>
                  <a:pt x="112905" y="92300"/>
                  <a:pt x="120000" y="76994"/>
                  <a:pt x="120000" y="60000"/>
                </a:cubicBezTo>
                <a:cubicBezTo>
                  <a:pt x="120000" y="26861"/>
                  <a:pt x="93133" y="0"/>
                  <a:pt x="60000" y="0"/>
                </a:cubicBezTo>
                <a:cubicBezTo>
                  <a:pt x="26866" y="0"/>
                  <a:pt x="0" y="26861"/>
                  <a:pt x="0" y="60000"/>
                </a:cubicBezTo>
                <a:cubicBezTo>
                  <a:pt x="0" y="76994"/>
                  <a:pt x="7094" y="92300"/>
                  <a:pt x="18444" y="103216"/>
                </a:cubicBezTo>
                <a:lnTo>
                  <a:pt x="11705" y="115344"/>
                </a:lnTo>
                <a:cubicBezTo>
                  <a:pt x="11216" y="115838"/>
                  <a:pt x="10911" y="116522"/>
                  <a:pt x="10911" y="117272"/>
                </a:cubicBezTo>
                <a:cubicBezTo>
                  <a:pt x="10911" y="118777"/>
                  <a:pt x="12133" y="120000"/>
                  <a:pt x="13638" y="120000"/>
                </a:cubicBezTo>
                <a:cubicBezTo>
                  <a:pt x="14388" y="120000"/>
                  <a:pt x="15072" y="119694"/>
                  <a:pt x="15566" y="119200"/>
                </a:cubicBezTo>
                <a:cubicBezTo>
                  <a:pt x="15877" y="118888"/>
                  <a:pt x="16077" y="118483"/>
                  <a:pt x="16205" y="118044"/>
                </a:cubicBezTo>
                <a:lnTo>
                  <a:pt x="22466" y="106772"/>
                </a:lnTo>
                <a:cubicBezTo>
                  <a:pt x="32750" y="115033"/>
                  <a:pt x="45788" y="120000"/>
                  <a:pt x="60000" y="120000"/>
                </a:cubicBezTo>
                <a:cubicBezTo>
                  <a:pt x="74211" y="120000"/>
                  <a:pt x="87250" y="115033"/>
                  <a:pt x="97527" y="106772"/>
                </a:cubicBezTo>
                <a:lnTo>
                  <a:pt x="103794" y="118044"/>
                </a:lnTo>
                <a:cubicBezTo>
                  <a:pt x="104127" y="119166"/>
                  <a:pt x="105127" y="120000"/>
                  <a:pt x="106361" y="120000"/>
                </a:cubicBezTo>
                <a:cubicBezTo>
                  <a:pt x="107866" y="120000"/>
                  <a:pt x="109088" y="118777"/>
                  <a:pt x="109088" y="117272"/>
                </a:cubicBezTo>
                <a:cubicBezTo>
                  <a:pt x="109088" y="116522"/>
                  <a:pt x="108783" y="115838"/>
                  <a:pt x="108294" y="115344"/>
                </a:cubicBezTo>
                <a:cubicBezTo>
                  <a:pt x="108294" y="115344"/>
                  <a:pt x="101555" y="103216"/>
                  <a:pt x="101555" y="103216"/>
                </a:cubicBezTo>
                <a:close/>
                <a:moveTo>
                  <a:pt x="60000" y="92727"/>
                </a:moveTo>
                <a:cubicBezTo>
                  <a:pt x="41927" y="92727"/>
                  <a:pt x="27272" y="78072"/>
                  <a:pt x="27272" y="60000"/>
                </a:cubicBezTo>
                <a:cubicBezTo>
                  <a:pt x="27272" y="41927"/>
                  <a:pt x="41927" y="27272"/>
                  <a:pt x="60000" y="27272"/>
                </a:cubicBezTo>
                <a:cubicBezTo>
                  <a:pt x="78072" y="27272"/>
                  <a:pt x="92727" y="41927"/>
                  <a:pt x="92727" y="60000"/>
                </a:cubicBezTo>
                <a:cubicBezTo>
                  <a:pt x="92727" y="78072"/>
                  <a:pt x="78072" y="92727"/>
                  <a:pt x="60000" y="92727"/>
                </a:cubicBezTo>
                <a:moveTo>
                  <a:pt x="60000" y="21816"/>
                </a:moveTo>
                <a:cubicBezTo>
                  <a:pt x="38911" y="21816"/>
                  <a:pt x="21816" y="38911"/>
                  <a:pt x="21816" y="60000"/>
                </a:cubicBezTo>
                <a:cubicBezTo>
                  <a:pt x="21816" y="81088"/>
                  <a:pt x="38911" y="98183"/>
                  <a:pt x="60000" y="98183"/>
                </a:cubicBezTo>
                <a:cubicBezTo>
                  <a:pt x="81088" y="98183"/>
                  <a:pt x="98183" y="81088"/>
                  <a:pt x="98183" y="60000"/>
                </a:cubicBezTo>
                <a:cubicBezTo>
                  <a:pt x="98183" y="38911"/>
                  <a:pt x="81088" y="21816"/>
                  <a:pt x="60000" y="21816"/>
                </a:cubicBezTo>
                <a:moveTo>
                  <a:pt x="60000" y="70911"/>
                </a:moveTo>
                <a:cubicBezTo>
                  <a:pt x="53977" y="70911"/>
                  <a:pt x="49088" y="66022"/>
                  <a:pt x="49088" y="60000"/>
                </a:cubicBezTo>
                <a:cubicBezTo>
                  <a:pt x="49088" y="53977"/>
                  <a:pt x="53977" y="49088"/>
                  <a:pt x="60000" y="49088"/>
                </a:cubicBezTo>
                <a:cubicBezTo>
                  <a:pt x="66022" y="49088"/>
                  <a:pt x="70911" y="53977"/>
                  <a:pt x="70911" y="60000"/>
                </a:cubicBezTo>
                <a:cubicBezTo>
                  <a:pt x="70911" y="66022"/>
                  <a:pt x="66022" y="70911"/>
                  <a:pt x="60000" y="70911"/>
                </a:cubicBezTo>
                <a:moveTo>
                  <a:pt x="60000" y="43638"/>
                </a:moveTo>
                <a:cubicBezTo>
                  <a:pt x="50961" y="43638"/>
                  <a:pt x="43638" y="50961"/>
                  <a:pt x="43638" y="60000"/>
                </a:cubicBezTo>
                <a:cubicBezTo>
                  <a:pt x="43638" y="69038"/>
                  <a:pt x="50961" y="76361"/>
                  <a:pt x="60000" y="76361"/>
                </a:cubicBezTo>
                <a:cubicBezTo>
                  <a:pt x="69038" y="76361"/>
                  <a:pt x="76361" y="69038"/>
                  <a:pt x="76361" y="60000"/>
                </a:cubicBezTo>
                <a:cubicBezTo>
                  <a:pt x="76361" y="50961"/>
                  <a:pt x="69038" y="43638"/>
                  <a:pt x="60000" y="4363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9038" tIns="19038" rIns="19038" bIns="19038" anchor="ctr" anchorCtr="0">
            <a:noAutofit/>
          </a:bodyPr>
          <a:lstStyle/>
          <a:p>
            <a:endParaRPr sz="1500" dirty="0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pic>
        <p:nvPicPr>
          <p:cNvPr id="23" name="Picture 22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BA56B7FF-DEB4-6B2F-2375-D65C20B64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3134" y="4848965"/>
            <a:ext cx="3054909" cy="2263584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776456FD-ED11-F62D-19CA-D1FED2B52CAB}"/>
              </a:ext>
            </a:extLst>
          </p:cNvPr>
          <p:cNvSpPr txBox="1">
            <a:spLocks/>
          </p:cNvSpPr>
          <p:nvPr/>
        </p:nvSpPr>
        <p:spPr>
          <a:xfrm>
            <a:off x="7176888" y="3421763"/>
            <a:ext cx="3054909" cy="76470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AGENDA </a:t>
            </a:r>
          </a:p>
        </p:txBody>
      </p:sp>
      <p:pic>
        <p:nvPicPr>
          <p:cNvPr id="2" name="Picture 1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685DF96B-0733-E234-FB42-113A5ACD0B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591" y="5607734"/>
            <a:ext cx="2031459" cy="69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6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6FB7EF-E66C-C84D-BC76-9CE0FE866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28599" y="399358"/>
            <a:ext cx="10676815" cy="1008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000" b="1" dirty="0">
                <a:solidFill>
                  <a:srgbClr val="00B0F0"/>
                </a:solidFill>
                <a:latin typeface="Montserrat" panose="00000500000000000000" pitchFamily="2" charset="0"/>
              </a:rPr>
              <a:t>Why belong to a Retirement Fund?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4BAC7F-9C42-3B6D-9134-13D1BDFFFF56}"/>
              </a:ext>
            </a:extLst>
          </p:cNvPr>
          <p:cNvSpPr txBox="1">
            <a:spLocks/>
          </p:cNvSpPr>
          <p:nvPr/>
        </p:nvSpPr>
        <p:spPr>
          <a:xfrm>
            <a:off x="432178" y="1457394"/>
            <a:ext cx="8195495" cy="5123287"/>
          </a:xfrm>
          <a:prstGeom prst="rect">
            <a:avLst/>
          </a:prstGeom>
        </p:spPr>
        <p:txBody>
          <a:bodyPr vert="horz">
            <a:normAutofit fontScale="700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Belong to the Fund due to SAMRO membership – not all tiers qualify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Help save towards retirement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Retirement age: minimum age 55, no maximum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ZA" sz="2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Leakage in SA retirement system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ZA" sz="2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Member can only withdraw prior to retirement if benefit is &lt; R15,000 (as per Government Gazette) and no contribution was received in the previous year (Rules 3.2 &amp; 7.5). This assisted members during COVID.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Once a member </a:t>
            </a:r>
            <a:r>
              <a:rPr lang="en-ZA" sz="2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retires from </a:t>
            </a: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the Fund they may not return (Rule 3.3), i.e., they are no </a:t>
            </a:r>
            <a:r>
              <a:rPr lang="en-ZA" sz="2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longer eligible for </a:t>
            </a:r>
            <a:r>
              <a:rPr kumimoji="0" lang="en-ZA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membership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ZA" sz="2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 member who withdraws from the Fund can return</a:t>
            </a:r>
            <a:endParaRPr kumimoji="0" lang="en-ZA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pic>
        <p:nvPicPr>
          <p:cNvPr id="13" name="Picture 12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D6C10BAC-6964-D136-476C-BAD10FB1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596" y="4247012"/>
            <a:ext cx="4264037" cy="2762518"/>
          </a:xfrm>
          <a:prstGeom prst="rect">
            <a:avLst/>
          </a:prstGeom>
        </p:spPr>
      </p:pic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CD579E13-14EA-8204-AAE7-9808E79A19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06" y="5063264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4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6FB7EF-E66C-C84D-BC76-9CE0FE866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0"/>
            <a:ext cx="12192000" cy="6900155"/>
          </a:xfrm>
          <a:prstGeom prst="rect">
            <a:avLst/>
          </a:prstGeom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98937" y="208606"/>
            <a:ext cx="10676815" cy="100811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000" b="1" dirty="0">
                <a:solidFill>
                  <a:srgbClr val="00B0F0"/>
                </a:solidFill>
                <a:latin typeface="Montserrat" panose="00000500000000000000" pitchFamily="2" charset="0"/>
              </a:rPr>
              <a:t>Fund Management</a:t>
            </a:r>
          </a:p>
        </p:txBody>
      </p:sp>
      <p:pic>
        <p:nvPicPr>
          <p:cNvPr id="13" name="Picture 12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D6C10BAC-6964-D136-476C-BAD10FB1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596" y="4247012"/>
            <a:ext cx="4264037" cy="2762518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073467-5326-6AB4-0185-B2A7E9A12FD5}"/>
              </a:ext>
            </a:extLst>
          </p:cNvPr>
          <p:cNvSpPr txBox="1">
            <a:spLocks/>
          </p:cNvSpPr>
          <p:nvPr/>
        </p:nvSpPr>
        <p:spPr>
          <a:xfrm>
            <a:off x="576110" y="1074706"/>
            <a:ext cx="8642841" cy="5783294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Separate legal entity </a:t>
            </a:r>
            <a:r>
              <a:rPr kumimoji="0" lang="en-ZA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ie</a:t>
            </a: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its own legal persona outside of the Sponsor and Board (Rule 1.4)</a:t>
            </a: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Board of Trustees consists of </a:t>
            </a:r>
            <a:r>
              <a:rPr lang="en-ZA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Founder</a:t>
            </a: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appointed, Member elected Trustees &amp; Independent Trustee : 5-year term </a:t>
            </a:r>
            <a:endParaRPr lang="en-ZA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Member trustee election process per the Fund Rules &amp; </a:t>
            </a:r>
            <a:r>
              <a:rPr lang="en-ZA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Pension Funds Act (PFA)</a:t>
            </a: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Decisions made by majority</a:t>
            </a: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lang="en-ZA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Quorum at meetings: 4 of which 2 must be Member Trustees</a:t>
            </a: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r>
              <a:rPr kumimoji="0" lang="en-ZA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Fidu</a:t>
            </a:r>
            <a:r>
              <a:rPr lang="en-ZA" sz="2000" dirty="0" err="1">
                <a:solidFill>
                  <a:sysClr val="windowText" lastClr="000000"/>
                </a:solidFill>
                <a:latin typeface="Montserrat" panose="00000500000000000000" pitchFamily="2" charset="0"/>
              </a:rPr>
              <a:t>ciary</a:t>
            </a:r>
            <a:r>
              <a:rPr lang="en-ZA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duty serving the best interests of the Fund and Members</a:t>
            </a: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lvl="1" indent="-27432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3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026DCB5D-F7C2-8599-5CB7-3617EE75DF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06" y="5063264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46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6FB7EF-E66C-C84D-BC76-9CE0FE866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75492" y="77842"/>
            <a:ext cx="10676815" cy="813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000" b="1" dirty="0">
                <a:solidFill>
                  <a:srgbClr val="00B0F0"/>
                </a:solidFill>
                <a:latin typeface="Montserrat" panose="00000500000000000000" pitchFamily="2" charset="0"/>
              </a:rPr>
              <a:t>Contributions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4BAC7F-9C42-3B6D-9134-13D1BDFFFF56}"/>
              </a:ext>
            </a:extLst>
          </p:cNvPr>
          <p:cNvSpPr txBox="1">
            <a:spLocks/>
          </p:cNvSpPr>
          <p:nvPr/>
        </p:nvSpPr>
        <p:spPr>
          <a:xfrm>
            <a:off x="562866" y="813282"/>
            <a:ext cx="8296322" cy="582557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The Founder must contribute annually on behalf of</a:t>
            </a: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 each member who earns royalties from SA music works 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The annual contribution is either </a:t>
            </a:r>
            <a:r>
              <a:rPr lang="en-US" dirty="0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R800 or an amount set by the </a:t>
            </a:r>
            <a:r>
              <a:rPr lang="en-US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</a:t>
            </a:r>
            <a:r>
              <a:rPr lang="en-US" dirty="0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rustees (pre-allocation), and/or</a:t>
            </a:r>
            <a:r>
              <a:rPr lang="en-US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the portion of royalties allocated for contribution by the Founder (proportional allocation)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 Exceptions: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No contribution for members earning less than R100 in royalties annually &amp; pre-allocation c</a:t>
            </a:r>
            <a:r>
              <a:rPr lang="en-US" dirty="0" err="1">
                <a:solidFill>
                  <a:sysClr val="windowText" lastClr="000000"/>
                </a:solidFill>
                <a:latin typeface="Montserrat" panose="00000500000000000000" pitchFamily="2" charset="0"/>
                <a:ea typeface="+mn-ea"/>
                <a:cs typeface="+mn-cs"/>
              </a:rPr>
              <a:t>ontributio</a:t>
            </a:r>
            <a:r>
              <a:rPr lang="en-US" dirty="0" err="1">
                <a:solidFill>
                  <a:sysClr val="windowText" lastClr="000000"/>
                </a:solidFill>
                <a:latin typeface="Montserrat" panose="00000500000000000000" pitchFamily="2" charset="0"/>
              </a:rPr>
              <a:t>ns</a:t>
            </a:r>
            <a:r>
              <a:rPr lang="en-US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capped at 50% of the total contributions 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Annual contribution paid in December</a:t>
            </a: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defRPr/>
            </a:pPr>
            <a:r>
              <a:rPr lang="en-US" sz="2400" i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Additional</a:t>
            </a: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</a:t>
            </a:r>
            <a:r>
              <a:rPr lang="en-US" sz="2400" i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member</a:t>
            </a: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</a:t>
            </a:r>
            <a:r>
              <a:rPr lang="en-US" sz="2400" i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contributions</a:t>
            </a:r>
            <a:r>
              <a:rPr lang="en-US" sz="24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(AVC’s) allowed</a:t>
            </a: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pic>
        <p:nvPicPr>
          <p:cNvPr id="13" name="Picture 12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D6C10BAC-6964-D136-476C-BAD10FB1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596" y="4247012"/>
            <a:ext cx="4264037" cy="2762518"/>
          </a:xfrm>
          <a:prstGeom prst="rect">
            <a:avLst/>
          </a:prstGeom>
        </p:spPr>
      </p:pic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70ACE13D-52F7-B9BA-D758-1692B94669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06" y="5063264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91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5" y="-3346"/>
            <a:ext cx="6260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Benefits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290199" y="696263"/>
            <a:ext cx="6791873" cy="637025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Fund provides retirement, ill-health and death benefits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, where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Fund Credit (share of the fund) becomes payable (contributions towards retirement + investment growth) 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1800" b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Retirement benefits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: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On elected normal pension date, member becomes entitled to Fund Credit</a:t>
            </a: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Up to one third of the benefit can be taken as a cash lump sum (subject to tax) balance of benefit must buy a compulsory monthly pension/annuity (taxable) – Rule Amendments 1 &amp; 5</a:t>
            </a: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Tax rate </a:t>
            </a:r>
            <a:r>
              <a:rPr lang="en-US" sz="1800" dirty="0" err="1">
                <a:solidFill>
                  <a:sysClr val="windowText" lastClr="000000"/>
                </a:solidFill>
                <a:latin typeface="Montserrat" panose="00000500000000000000" pitchFamily="2" charset="0"/>
              </a:rPr>
              <a:t>favourable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for pensioners older than 65</a:t>
            </a: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De </a:t>
            </a:r>
            <a:r>
              <a:rPr lang="en-US" sz="1800" dirty="0" err="1">
                <a:solidFill>
                  <a:sysClr val="windowText" lastClr="000000"/>
                </a:solidFill>
                <a:latin typeface="Montserrat" panose="00000500000000000000" pitchFamily="2" charset="0"/>
              </a:rPr>
              <a:t>minimus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rule of R247,500</a:t>
            </a:r>
          </a:p>
          <a:p>
            <a:pPr marL="365760" lvl="1" indent="0" algn="just">
              <a:lnSpc>
                <a:spcPct val="150000"/>
              </a:lnSpc>
              <a:buClr>
                <a:srgbClr val="0BD0D9"/>
              </a:buClr>
              <a:buSzPct val="95000"/>
              <a:buNone/>
              <a:defRPr/>
            </a:pPr>
            <a:endParaRPr lang="en-US" sz="17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365760" lvl="1" indent="0" algn="just">
              <a:lnSpc>
                <a:spcPct val="150000"/>
              </a:lnSpc>
              <a:buClr>
                <a:srgbClr val="0BD0D9"/>
              </a:buClr>
              <a:buSzPct val="95000"/>
              <a:buNone/>
              <a:defRPr/>
            </a:pPr>
            <a:endParaRPr kumimoji="0" lang="en-ZA" sz="17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5F270B0B-2C04-98C9-B651-EB0931D694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62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5" y="-3346"/>
            <a:ext cx="6260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Benefits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228492" y="828097"/>
            <a:ext cx="6846277" cy="5495696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Options at retirement – Buying an Annuity: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Type of monthly pension/annuity depends on personal circumstances e.g., marital status,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dependants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, debt, income requirements,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etc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Compulsory/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fixed annuity versus a living annuity, both have advantages &amp; disadvantages</a:t>
            </a: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Option to retain benefit in the Fund as a deferred retiree </a:t>
            </a: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How much retirement savings is enough?</a:t>
            </a: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Benefit counselling </a:t>
            </a:r>
          </a:p>
          <a:p>
            <a:pPr lvl="1" indent="-27432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Obtain financial 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&amp;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retirement planning advice</a:t>
            </a:r>
          </a:p>
        </p:txBody>
      </p:sp>
      <p:pic>
        <p:nvPicPr>
          <p:cNvPr id="5" name="Picture 4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CCE18549-4E41-B699-EE4D-86A0FCFD0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6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5" y="-3346"/>
            <a:ext cx="6260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Benefits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290199" y="696263"/>
            <a:ext cx="6791873" cy="6370255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lvl="1" indent="0" algn="just">
              <a:buClr>
                <a:srgbClr val="0BD0D9"/>
              </a:buClr>
              <a:buSzPct val="95000"/>
              <a:buNone/>
              <a:defRPr/>
            </a:pPr>
            <a:endParaRPr lang="en-US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000" b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Ill-health early retirement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:</a:t>
            </a:r>
            <a:endParaRPr lang="en-US" sz="2000" b="1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 member who has become permanently incapable of performing his Occupation may apply for an ill-health early retirement benefit</a:t>
            </a: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Occupation = </a:t>
            </a:r>
            <a:r>
              <a:rPr lang="en-GB" sz="2000" b="0" i="0" u="none" strike="noStrike" baseline="0" dirty="0">
                <a:solidFill>
                  <a:srgbClr val="000000"/>
                </a:solidFill>
                <a:latin typeface="Montserrat" panose="00000500000000000000" pitchFamily="2" charset="0"/>
              </a:rPr>
              <a:t>shall mean the creation of original music works that allows the creator to earn an income from his or her creation. </a:t>
            </a:r>
            <a:endParaRPr lang="en-US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lvl="1" indent="-274320" algn="just">
              <a:lnSpc>
                <a:spcPct val="150000"/>
              </a:lnSpc>
              <a:buClr>
                <a:srgbClr val="0BD0D9"/>
              </a:buClr>
              <a:buSzPct val="95000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The trustees shall require the member to be medically examined at the member’s expense by a medical practitioner (Rule 5.3)</a:t>
            </a:r>
          </a:p>
          <a:p>
            <a:pPr lvl="1" indent="-274320" algn="just">
              <a:buClr>
                <a:srgbClr val="0BD0D9"/>
              </a:buClr>
              <a:buSzPct val="95000"/>
              <a:defRPr/>
            </a:pPr>
            <a:endParaRPr lang="en-US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365760" lvl="1" indent="0" algn="just">
              <a:buClr>
                <a:srgbClr val="0BD0D9"/>
              </a:buClr>
              <a:buSzPct val="95000"/>
              <a:buNone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5F270B0B-2C04-98C9-B651-EB0931D694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71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C01807B9-FB41-1579-6556-E7E0F0EDDB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" t="22134"/>
          <a:stretch/>
        </p:blipFill>
        <p:spPr>
          <a:xfrm>
            <a:off x="9621329" y="576380"/>
            <a:ext cx="991154" cy="5771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564672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Montserrat" panose="00000500000000000000" pitchFamily="2" charset="0"/>
              </a:rPr>
              <a:t>TAX APPLICABLE ON WITHDRAWAL AND RETIREMENT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47131A7A-1F24-CA84-BBAD-4BFC89BEF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62" y="4009418"/>
            <a:ext cx="2275264" cy="2846678"/>
          </a:xfrm>
          <a:prstGeom prst="rect">
            <a:avLst/>
          </a:prstGeom>
        </p:spPr>
      </p:pic>
      <p:sp>
        <p:nvSpPr>
          <p:cNvPr id="25" name="Thought Bubble: Cloud 24">
            <a:extLst>
              <a:ext uri="{FF2B5EF4-FFF2-40B4-BE49-F238E27FC236}">
                <a16:creationId xmlns:a16="http://schemas.microsoft.com/office/drawing/2014/main" id="{2FD79B7E-C967-55F4-0766-DE7B55DD2865}"/>
              </a:ext>
            </a:extLst>
          </p:cNvPr>
          <p:cNvSpPr/>
          <p:nvPr/>
        </p:nvSpPr>
        <p:spPr>
          <a:xfrm rot="2195136">
            <a:off x="2509089" y="2465039"/>
            <a:ext cx="3302325" cy="3217747"/>
          </a:xfrm>
          <a:prstGeom prst="cloudCallout">
            <a:avLst/>
          </a:prstGeom>
          <a:ln>
            <a:solidFill>
              <a:srgbClr val="FF2A2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958469-570D-E587-3984-6FFB8812030F}"/>
              </a:ext>
            </a:extLst>
          </p:cNvPr>
          <p:cNvSpPr txBox="1"/>
          <p:nvPr/>
        </p:nvSpPr>
        <p:spPr>
          <a:xfrm>
            <a:off x="2683176" y="3429000"/>
            <a:ext cx="32637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ZA" sz="1600" b="1" kern="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Members are eligible for R 550,000 tax free over their lifetime. </a:t>
            </a:r>
          </a:p>
          <a:p>
            <a:pPr algn="ctr">
              <a:defRPr/>
            </a:pPr>
            <a:endParaRPr lang="en-ZA" sz="1600" b="1" kern="0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ZA" sz="1600" b="1" kern="0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This includes tax free amounts received on withdrawals</a:t>
            </a:r>
          </a:p>
          <a:p>
            <a:endParaRPr lang="en-ZA" sz="1600" dirty="0"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98EF1D-07FF-0A34-0E33-0AD96DDE33CC}"/>
              </a:ext>
            </a:extLst>
          </p:cNvPr>
          <p:cNvSpPr txBox="1"/>
          <p:nvPr/>
        </p:nvSpPr>
        <p:spPr>
          <a:xfrm>
            <a:off x="6265150" y="3767484"/>
            <a:ext cx="4020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SzPct val="120000"/>
              <a:defRPr/>
            </a:pPr>
            <a:r>
              <a:rPr lang="en-US" sz="1600" b="1" kern="0" dirty="0">
                <a:latin typeface="+mj-lt"/>
                <a:cs typeface="Arial" panose="020B0604020202020204" pitchFamily="34" charset="0"/>
              </a:rPr>
              <a:t>Retirement, retrenchment and death benefit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C709D6-477B-BD6D-DC7A-26DBFDFA56A3}"/>
              </a:ext>
            </a:extLst>
          </p:cNvPr>
          <p:cNvSpPr txBox="1"/>
          <p:nvPr/>
        </p:nvSpPr>
        <p:spPr>
          <a:xfrm>
            <a:off x="6337332" y="741649"/>
            <a:ext cx="3017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ct val="20000"/>
              </a:spcBef>
              <a:buClr>
                <a:srgbClr val="000000"/>
              </a:buClr>
              <a:buSzPct val="120000"/>
              <a:defRPr/>
            </a:pPr>
            <a:r>
              <a:rPr lang="en-US" sz="1600" b="1" kern="0" dirty="0">
                <a:latin typeface="+mj-lt"/>
                <a:cs typeface="Arial" panose="020B0604020202020204" pitchFamily="34" charset="0"/>
              </a:rPr>
              <a:t>Withdrawal benefit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4831FAA-6247-ABBF-E88E-EBBC653FD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637383"/>
              </p:ext>
            </p:extLst>
          </p:nvPr>
        </p:nvGraphicFramePr>
        <p:xfrm>
          <a:off x="6036264" y="4073911"/>
          <a:ext cx="46248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410">
                  <a:extLst>
                    <a:ext uri="{9D8B030D-6E8A-4147-A177-3AD203B41FA5}">
                      <a16:colId xmlns:a16="http://schemas.microsoft.com/office/drawing/2014/main" val="2449870205"/>
                    </a:ext>
                  </a:extLst>
                </a:gridCol>
                <a:gridCol w="2312410">
                  <a:extLst>
                    <a:ext uri="{9D8B030D-6E8A-4147-A177-3AD203B41FA5}">
                      <a16:colId xmlns:a16="http://schemas.microsoft.com/office/drawing/2014/main" val="204559340"/>
                    </a:ext>
                  </a:extLst>
                </a:gridCol>
              </a:tblGrid>
              <a:tr h="295671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Taxable income (R)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Rates of tax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025752"/>
                  </a:ext>
                </a:extLst>
              </a:tr>
              <a:tr h="295671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R0 – R550 000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0% of taxable income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305144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R500 001 – R770 000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18% of retirement benefit above R550 000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27887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+mj-lt"/>
                        </a:rPr>
                        <a:t>R770 001 – R1 155 000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R39 600 + 27% of retirement benefit above R770 000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247550"/>
                  </a:ext>
                </a:extLst>
              </a:tr>
              <a:tr h="50264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R1 155 001 and above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R143 550 + 36% of retirement benefit above R1 155 000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124836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222659B-0CC0-497A-BE05-EB6B9F4DD38F}"/>
              </a:ext>
            </a:extLst>
          </p:cNvPr>
          <p:cNvGraphicFramePr>
            <a:graphicFrameLocks noGrp="1"/>
          </p:cNvGraphicFramePr>
          <p:nvPr/>
        </p:nvGraphicFramePr>
        <p:xfrm>
          <a:off x="6052984" y="1059915"/>
          <a:ext cx="4624820" cy="271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410">
                  <a:extLst>
                    <a:ext uri="{9D8B030D-6E8A-4147-A177-3AD203B41FA5}">
                      <a16:colId xmlns:a16="http://schemas.microsoft.com/office/drawing/2014/main" val="2946766451"/>
                    </a:ext>
                  </a:extLst>
                </a:gridCol>
                <a:gridCol w="2312410">
                  <a:extLst>
                    <a:ext uri="{9D8B030D-6E8A-4147-A177-3AD203B41FA5}">
                      <a16:colId xmlns:a16="http://schemas.microsoft.com/office/drawing/2014/main" val="981083449"/>
                    </a:ext>
                  </a:extLst>
                </a:gridCol>
              </a:tblGrid>
              <a:tr h="367409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Taxable income (R)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Rates of tax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00846"/>
                  </a:ext>
                </a:extLst>
              </a:tr>
              <a:tr h="367409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R0 – R27 500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0% of taxable income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57467"/>
                  </a:ext>
                </a:extLst>
              </a:tr>
              <a:tr h="367409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+mj-lt"/>
                        </a:rPr>
                        <a:t>R27 501 – R726 000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18% of withdrawal benefit above R27 500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217548"/>
                  </a:ext>
                </a:extLst>
              </a:tr>
              <a:tr h="367409">
                <a:tc>
                  <a:txBody>
                    <a:bodyPr/>
                    <a:lstStyle/>
                    <a:p>
                      <a:r>
                        <a:rPr lang="pt-BR" sz="1400" dirty="0">
                          <a:latin typeface="+mj-lt"/>
                        </a:rPr>
                        <a:t>R726 001 – R1 089 000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R125 730 + 27% of withdrawal benefit above R726 000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843015"/>
                  </a:ext>
                </a:extLst>
              </a:tr>
              <a:tr h="36740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R1 089 001 and above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R223 740 + 36% of withdrawal benefit above R1 089 000 </a:t>
                      </a:r>
                      <a:endParaRPr lang="en-ZA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13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0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ose on a tombstone">
            <a:extLst>
              <a:ext uri="{FF2B5EF4-FFF2-40B4-BE49-F238E27FC236}">
                <a16:creationId xmlns:a16="http://schemas.microsoft.com/office/drawing/2014/main" id="{92E1C404-66A4-D6CF-5188-1AC4F25A7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46" t="1135" r="1212" b="-1135"/>
          <a:stretch/>
        </p:blipFill>
        <p:spPr bwMode="auto">
          <a:xfrm>
            <a:off x="0" y="0"/>
            <a:ext cx="6187297" cy="693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75492" y="77842"/>
            <a:ext cx="10676815" cy="813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000" b="1" dirty="0">
                <a:solidFill>
                  <a:srgbClr val="00B0F0"/>
                </a:solidFill>
                <a:latin typeface="Montserrat" panose="00000500000000000000" pitchFamily="2" charset="0"/>
              </a:rPr>
              <a:t>Funeral benefit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4BAC7F-9C42-3B6D-9134-13D1BDFFFF56}"/>
              </a:ext>
            </a:extLst>
          </p:cNvPr>
          <p:cNvSpPr txBox="1">
            <a:spLocks/>
          </p:cNvSpPr>
          <p:nvPr/>
        </p:nvSpPr>
        <p:spPr>
          <a:xfrm>
            <a:off x="6321706" y="687820"/>
            <a:ext cx="5313200" cy="606579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Funeral 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benefit: provided by SAMRO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Covers: member, spouse &amp; children 14 – 21: R25,000; children 6 – 13: R10,000;</a:t>
            </a: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Children 0 – 5 &amp; stillborn: R5,000</a:t>
            </a:r>
            <a:endParaRPr lang="en-ZA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ZA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Nomination of beneficiary form</a:t>
            </a:r>
          </a:p>
          <a:p>
            <a:pPr marL="274320" marR="0" lvl="0" indent="-27432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ZA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Claim notification period</a:t>
            </a: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pic>
        <p:nvPicPr>
          <p:cNvPr id="13" name="Picture 12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D6C10BAC-6964-D136-476C-BAD10FB1B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417" y="4377080"/>
            <a:ext cx="4264037" cy="2762518"/>
          </a:xfrm>
          <a:prstGeom prst="rect">
            <a:avLst/>
          </a:prstGeom>
        </p:spPr>
      </p:pic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FBDF2BA0-E696-EA01-A046-B411BB9C22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06" y="5063264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67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6FB7EF-E66C-C84D-BC76-9CE0FE866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5" name="Shape 134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 txBox="1"/>
          <p:nvPr/>
        </p:nvSpPr>
        <p:spPr>
          <a:xfrm>
            <a:off x="6491894" y="3361301"/>
            <a:ext cx="3973542" cy="25717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buSzPct val="25000"/>
            </a:pPr>
            <a:r>
              <a:rPr lang="en-US" sz="2000" dirty="0">
                <a:solidFill>
                  <a:schemeClr val="bg1"/>
                </a:solidFill>
                <a:latin typeface="Montserrat" panose="02000505000000020004"/>
                <a:ea typeface="Montserrat" panose="02000505000000020004"/>
                <a:cs typeface="Montserrat" panose="02000505000000020004"/>
                <a:sym typeface="Montserrat" panose="02000505000000020004"/>
              </a:rPr>
              <a:t>SESHEGO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75492" y="77842"/>
            <a:ext cx="10676815" cy="813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4000" b="1" dirty="0">
                <a:solidFill>
                  <a:srgbClr val="00B0F0"/>
                </a:solidFill>
                <a:latin typeface="Montserrat" panose="00000500000000000000" pitchFamily="2" charset="0"/>
              </a:rPr>
              <a:t>Investments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4BAC7F-9C42-3B6D-9134-13D1BDFFFF56}"/>
              </a:ext>
            </a:extLst>
          </p:cNvPr>
          <p:cNvSpPr txBox="1">
            <a:spLocks/>
          </p:cNvSpPr>
          <p:nvPr/>
        </p:nvSpPr>
        <p:spPr>
          <a:xfrm>
            <a:off x="562866" y="813281"/>
            <a:ext cx="11053024" cy="606579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lang="en-US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F88ACCC-6335-AB45-8967-E2B198F31566}"/>
              </a:ext>
            </a:extLst>
          </p:cNvPr>
          <p:cNvSpPr txBox="1">
            <a:spLocks/>
          </p:cNvSpPr>
          <p:nvPr/>
        </p:nvSpPr>
        <p:spPr>
          <a:xfrm>
            <a:off x="562865" y="813281"/>
            <a:ext cx="10676815" cy="606579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Two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multi-manager portfolios (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Seshego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curated solution)</a:t>
            </a:r>
          </a:p>
          <a:p>
            <a:pPr lvl="1" indent="-274320">
              <a:lnSpc>
                <a:spcPct val="12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Invest in growth assets in order to reach a retirement benefit that can replace your monthly income</a:t>
            </a:r>
          </a:p>
          <a:p>
            <a:pPr lvl="1" indent="-274320">
              <a:lnSpc>
                <a:spcPct val="12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Long term investment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don’t try time the market, spend time in the market; short term fluctuations &amp; long-term gain</a:t>
            </a:r>
          </a:p>
          <a:p>
            <a:pPr lvl="1" indent="-274320">
              <a:lnSpc>
                <a:spcPct val="120000"/>
              </a:lnSpc>
              <a:spcBef>
                <a:spcPts val="0"/>
              </a:spcBef>
              <a:buClr>
                <a:srgbClr val="0BD0D9"/>
              </a:buClr>
              <a:buSzPct val="95000"/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Active members: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Growth portfolio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(96% of assets: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Outstanding claims/unclaimed benefits: Money Market portfolio (</a:t>
            </a:r>
            <a:r>
              <a:rPr lang="en-US" sz="18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% of assets). Total asset value = R411,000,000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Return objectives: Real returns above inflation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ZA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lang="en-ZA" sz="36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graphicFrame>
        <p:nvGraphicFramePr>
          <p:cNvPr id="11" name="Table 13">
            <a:extLst>
              <a:ext uri="{FF2B5EF4-FFF2-40B4-BE49-F238E27FC236}">
                <a16:creationId xmlns:a16="http://schemas.microsoft.com/office/drawing/2014/main" id="{71009B1A-1260-BD0E-D36C-978EB8267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790286"/>
              </p:ext>
            </p:extLst>
          </p:nvPr>
        </p:nvGraphicFramePr>
        <p:xfrm>
          <a:off x="562864" y="3800458"/>
          <a:ext cx="10676814" cy="1775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5583">
                  <a:extLst>
                    <a:ext uri="{9D8B030D-6E8A-4147-A177-3AD203B41FA5}">
                      <a16:colId xmlns:a16="http://schemas.microsoft.com/office/drawing/2014/main" val="917335593"/>
                    </a:ext>
                  </a:extLst>
                </a:gridCol>
                <a:gridCol w="988827">
                  <a:extLst>
                    <a:ext uri="{9D8B030D-6E8A-4147-A177-3AD203B41FA5}">
                      <a16:colId xmlns:a16="http://schemas.microsoft.com/office/drawing/2014/main" val="1410109224"/>
                    </a:ext>
                  </a:extLst>
                </a:gridCol>
                <a:gridCol w="1095154">
                  <a:extLst>
                    <a:ext uri="{9D8B030D-6E8A-4147-A177-3AD203B41FA5}">
                      <a16:colId xmlns:a16="http://schemas.microsoft.com/office/drawing/2014/main" val="3578790066"/>
                    </a:ext>
                  </a:extLst>
                </a:gridCol>
                <a:gridCol w="1392865">
                  <a:extLst>
                    <a:ext uri="{9D8B030D-6E8A-4147-A177-3AD203B41FA5}">
                      <a16:colId xmlns:a16="http://schemas.microsoft.com/office/drawing/2014/main" val="1486980216"/>
                    </a:ext>
                  </a:extLst>
                </a:gridCol>
                <a:gridCol w="1272584">
                  <a:extLst>
                    <a:ext uri="{9D8B030D-6E8A-4147-A177-3AD203B41FA5}">
                      <a16:colId xmlns:a16="http://schemas.microsoft.com/office/drawing/2014/main" val="2163038741"/>
                    </a:ext>
                  </a:extLst>
                </a:gridCol>
                <a:gridCol w="1641801">
                  <a:extLst>
                    <a:ext uri="{9D8B030D-6E8A-4147-A177-3AD203B41FA5}">
                      <a16:colId xmlns:a16="http://schemas.microsoft.com/office/drawing/2014/main" val="2134747852"/>
                    </a:ext>
                  </a:extLst>
                </a:gridCol>
              </a:tblGrid>
              <a:tr h="434135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Returns @ 31 May 2025 (after fees)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1 Year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3 Years 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5 Years 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tabLst/>
                      </a:pPr>
                      <a:r>
                        <a:rPr lang="en-ZA" sz="1400" dirty="0">
                          <a:latin typeface="Montserrat" panose="00000500000000000000" pitchFamily="2" charset="0"/>
                        </a:rPr>
                        <a:t>Since Inception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897015"/>
                  </a:ext>
                </a:extLst>
              </a:tr>
              <a:tr h="434135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Coldstream Growth: Active members               </a:t>
                      </a:r>
                    </a:p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(CPI + 5% over 5+ years)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b="1" dirty="0">
                          <a:highlight>
                            <a:srgbClr val="00FF00"/>
                          </a:highlight>
                          <a:latin typeface="Montserrat" panose="00000500000000000000" pitchFamily="2" charset="0"/>
                        </a:rP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9.7%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844595"/>
                  </a:ext>
                </a:extLst>
              </a:tr>
              <a:tr h="434135">
                <a:tc>
                  <a:txBody>
                    <a:bodyPr/>
                    <a:lstStyle/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Money Market portfolio: Unclaimed benefits      </a:t>
                      </a:r>
                    </a:p>
                    <a:p>
                      <a:r>
                        <a:rPr lang="en-ZA" sz="1400" dirty="0">
                          <a:latin typeface="Montserrat" panose="00000500000000000000" pitchFamily="2" charset="0"/>
                        </a:rPr>
                        <a:t>(CPI + 1% over 1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ZA" sz="1400" b="1" kern="1200" dirty="0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8.8%</a:t>
                      </a:r>
                      <a:endParaRPr lang="en-ZA" sz="1400" b="1" dirty="0">
                        <a:highlight>
                          <a:srgbClr val="00FFFF"/>
                        </a:highlight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8.3%</a:t>
                      </a:r>
                      <a:endParaRPr lang="en-ZA" sz="1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6.7%</a:t>
                      </a:r>
                      <a:endParaRPr lang="en-ZA" sz="1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7.1%</a:t>
                      </a:r>
                      <a:endParaRPr lang="en-ZA" sz="14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51868"/>
                  </a:ext>
                </a:extLst>
              </a:tr>
              <a:tr h="2553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Inflation (CPI) + 5%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400" dirty="0">
                          <a:latin typeface="Montserrat" panose="00000500000000000000" pitchFamily="2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b="1" kern="1200" dirty="0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b="1" kern="1200" dirty="0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400" kern="1200" dirty="0">
                          <a:solidFill>
                            <a:schemeClr val="dk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362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216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6FB7EF-E66C-C84D-BC76-9CE0FE866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12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4C9CD327-E331-4645-8F65-03C6EE583D7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5" name="Shape 134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 txBox="1"/>
          <p:nvPr/>
        </p:nvSpPr>
        <p:spPr>
          <a:xfrm>
            <a:off x="6491894" y="3361301"/>
            <a:ext cx="3973542" cy="257177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buSzPct val="25000"/>
            </a:pPr>
            <a:r>
              <a:rPr lang="en-US" sz="2000" dirty="0">
                <a:solidFill>
                  <a:schemeClr val="bg1"/>
                </a:solidFill>
                <a:latin typeface="Montserrat" panose="02000505000000020004"/>
                <a:ea typeface="Montserrat" panose="02000505000000020004"/>
                <a:cs typeface="Montserrat" panose="02000505000000020004"/>
                <a:sym typeface="Montserrat" panose="02000505000000020004"/>
              </a:rPr>
              <a:t>SESHEGO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29F98-4A9C-1409-E388-6D4A377F2512}"/>
              </a:ext>
            </a:extLst>
          </p:cNvPr>
          <p:cNvSpPr txBox="1">
            <a:spLocks/>
          </p:cNvSpPr>
          <p:nvPr/>
        </p:nvSpPr>
        <p:spPr>
          <a:xfrm>
            <a:off x="275492" y="201820"/>
            <a:ext cx="10676815" cy="81328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3600" b="1" dirty="0">
                <a:solidFill>
                  <a:srgbClr val="00B0F0"/>
                </a:solidFill>
                <a:latin typeface="Montserrat" panose="00000500000000000000" pitchFamily="2" charset="0"/>
              </a:rPr>
              <a:t>Investments: Asset class returns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4BAC7F-9C42-3B6D-9134-13D1BDFFFF56}"/>
              </a:ext>
            </a:extLst>
          </p:cNvPr>
          <p:cNvSpPr txBox="1">
            <a:spLocks/>
          </p:cNvSpPr>
          <p:nvPr/>
        </p:nvSpPr>
        <p:spPr>
          <a:xfrm>
            <a:off x="562866" y="813281"/>
            <a:ext cx="11053024" cy="606579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lang="en-US" sz="2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graphicFrame>
        <p:nvGraphicFramePr>
          <p:cNvPr id="3" name="Content Placeholder 3">
            <a:hlinkClick r:id="" action="ppaction://ole?verb=0"/>
            <a:extLst>
              <a:ext uri="{FF2B5EF4-FFF2-40B4-BE49-F238E27FC236}">
                <a16:creationId xmlns:a16="http://schemas.microsoft.com/office/drawing/2014/main" id="{1ED40AD0-333B-E8DF-D0AF-69B78AC2FD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881342"/>
              </p:ext>
            </p:extLst>
          </p:nvPr>
        </p:nvGraphicFramePr>
        <p:xfrm>
          <a:off x="694150" y="1235711"/>
          <a:ext cx="7837954" cy="4809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4" imgW="6096088" imgH="3429060" progId="PowerPoint.Show.12">
                  <p:embed/>
                </p:oleObj>
              </mc:Choice>
              <mc:Fallback>
                <p:oleObj name="Presentation" r:id="rId4" imgW="6096088" imgH="3429060" progId="PowerPoint.Show.12">
                  <p:embed/>
                  <p:pic>
                    <p:nvPicPr>
                      <p:cNvPr id="3" name="Content Placeholder 3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ED40AD0-333B-E8DF-D0AF-69B78AC2FD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4150" y="1235711"/>
                        <a:ext cx="7837954" cy="4809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black circle with a white line&#10;&#10;Description automatically generated">
            <a:extLst>
              <a:ext uri="{FF2B5EF4-FFF2-40B4-BE49-F238E27FC236}">
                <a16:creationId xmlns:a16="http://schemas.microsoft.com/office/drawing/2014/main" id="{D06245D2-A33A-460D-67C3-91E89B45DE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596" y="4247012"/>
            <a:ext cx="4264037" cy="2762518"/>
          </a:xfrm>
          <a:prstGeom prst="rect">
            <a:avLst/>
          </a:prstGeom>
        </p:spPr>
      </p:pic>
      <p:pic>
        <p:nvPicPr>
          <p:cNvPr id="6" name="Picture 5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C0729384-A4E9-5E44-15FC-8DDF38BBFE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8306" y="5063264"/>
            <a:ext cx="2974260" cy="10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27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4" y="-3346"/>
            <a:ext cx="7033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2-Pot retirement system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205992" y="695062"/>
            <a:ext cx="6891278" cy="61418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L</a:t>
            </a:r>
            <a:r>
              <a:rPr kumimoji="0" lang="en-US" sz="17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egislated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in June 2024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Purpose of this legislation: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L</a:t>
            </a:r>
            <a:r>
              <a:rPr kumimoji="0" lang="en-US" sz="17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abour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vs. Treasury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I</a:t>
            </a:r>
            <a:r>
              <a:rPr kumimoji="0" lang="en-US" sz="17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mplementation</a:t>
            </a:r>
            <a:r>
              <a:rPr kumimoji="0" lang="en-US" sz="170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date: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1 September 2024</a:t>
            </a:r>
            <a:endParaRPr kumimoji="0" lang="en-US" sz="17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Fund credit (share of fund) @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31 August 2024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: unaffected by this legislation;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existing options/rules apply</a:t>
            </a:r>
            <a:endParaRPr kumimoji="0" lang="en-US" sz="17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2 pots: </a:t>
            </a:r>
          </a:p>
          <a:p>
            <a:pPr marL="640080" lvl="2" indent="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None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- Savings pot: one-third of future </a:t>
            </a:r>
            <a:r>
              <a:rPr lang="en-US" sz="17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annual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 retirement contribution; </a:t>
            </a:r>
            <a:r>
              <a:rPr kumimoji="0" lang="en-US" sz="1700" i="0" u="sng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1 withdrawal 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per annum (March – February); minimum amount of R2,000;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taxable</a:t>
            </a: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; not a loan. Disadvantage of accessing retirement benefit prior to retirement. Balance can be accessed when exiting the fund, no restrictions</a:t>
            </a:r>
          </a:p>
          <a:p>
            <a:pPr marL="640080" lvl="2" indent="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None/>
              <a:defRPr/>
            </a:pPr>
            <a:r>
              <a:rPr kumimoji="0" lang="en-US" sz="17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- </a:t>
            </a:r>
            <a:r>
              <a:rPr kumimoji="0" lang="en-US" sz="170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Seed capital/opening balance into savings pot: 10% of fund credit (</a:t>
            </a:r>
            <a:r>
              <a:rPr lang="en-US" sz="1700" i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31 August </a:t>
            </a:r>
            <a:r>
              <a:rPr kumimoji="0" lang="en-US" sz="170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2024), maximum R30,000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17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17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17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5" name="Picture 4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AC361CCA-A140-CFE4-14EF-C443C555E7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4" y="-3346"/>
            <a:ext cx="7033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2-pot </a:t>
            </a:r>
            <a:r>
              <a:rPr lang="en-ZA" sz="2800" b="1" dirty="0">
                <a:solidFill>
                  <a:srgbClr val="00B0F0"/>
                </a:solidFill>
                <a:latin typeface="Montserrat" panose="00000500000000000000" pitchFamily="2" charset="0"/>
                <a:ea typeface="+mj-ea"/>
                <a:cs typeface="+mj-cs"/>
              </a:rPr>
              <a:t>retirement system</a:t>
            </a:r>
            <a:endParaRPr lang="en-ZA" sz="28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205992" y="695062"/>
            <a:ext cx="6891278" cy="61418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BD0D9"/>
              </a:buClr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Retirement pot: two-thirds of future annual retirement contribution. Can only access this benefit at retirement (and on death &amp; possibly due to retrenchment, with conditions). Benefit will need to be preserved until minimum age of 55.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Outstanding queries e.g., where additional voluntary contributions will be recorded; divorce payment from which pot,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etc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Withdrawal application process:  online directly with the Fund administrator or manual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273D9077-4AB0-2707-9FD3-6BBF6E16A34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84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4" y="-3346"/>
            <a:ext cx="7033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00B0F0"/>
                </a:solidFill>
                <a:latin typeface="Montserrat" panose="00000500000000000000" pitchFamily="2" charset="0"/>
                <a:ea typeface="+mj-ea"/>
                <a:cs typeface="+mj-cs"/>
              </a:rPr>
              <a:t>G</a:t>
            </a:r>
            <a:r>
              <a:rPr lang="en-ZA" sz="4000" b="1" dirty="0" err="1">
                <a:solidFill>
                  <a:srgbClr val="00B0F0"/>
                </a:solidFill>
                <a:latin typeface="Montserrat" panose="00000500000000000000" pitchFamily="2" charset="0"/>
                <a:ea typeface="+mj-ea"/>
                <a:cs typeface="+mj-cs"/>
              </a:rPr>
              <a:t>overnance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084688" y="620414"/>
            <a:ext cx="7164945" cy="61418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Board objectives / Code of Conduct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Duties of the Trustees, Chairperson and Principal Officer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Auditing principle of </a:t>
            </a:r>
            <a:r>
              <a:rPr lang="en-US" sz="2000" i="1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segregation of duties</a:t>
            </a:r>
            <a:endParaRPr kumimoji="0" lang="en-US" sz="200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Pension Funds Act vs Fund rules 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&amp; amendments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Pension Fund (PF) Circular 130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Policies and Committee mandates: annual review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Annual Financial Statements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ZA" sz="2000" dirty="0">
                <a:effectLst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Retirement Fund Trustees Fidelity Cover &amp; Cyber Cover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Statutory Actuarial Valuation: every 3 years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BA8E0C10-FA2C-05E2-CA84-FF4FAF241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288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4" y="-3346"/>
            <a:ext cx="7033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00B0F0"/>
                </a:solidFill>
                <a:latin typeface="Montserrat" panose="00000500000000000000" pitchFamily="2" charset="0"/>
                <a:ea typeface="+mj-ea"/>
                <a:cs typeface="+mj-cs"/>
              </a:rPr>
              <a:t>G</a:t>
            </a:r>
            <a:r>
              <a:rPr lang="en-ZA" sz="4000" b="1" dirty="0" err="1">
                <a:solidFill>
                  <a:srgbClr val="00B0F0"/>
                </a:solidFill>
                <a:latin typeface="Montserrat" panose="00000500000000000000" pitchFamily="2" charset="0"/>
                <a:ea typeface="+mj-ea"/>
                <a:cs typeface="+mj-cs"/>
              </a:rPr>
              <a:t>overnance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084688" y="620414"/>
            <a:ext cx="7164945" cy="614186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FSCA Trustee Toolkit Course: complete within 6 months of becoming a Trustee</a:t>
            </a: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Treating Customers Fairly (TCF) </a:t>
            </a: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Service providers </a:t>
            </a:r>
          </a:p>
          <a:p>
            <a:pPr marL="982980" lvl="2" indent="-34290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Auditor: PwC</a:t>
            </a:r>
          </a:p>
          <a:p>
            <a:pPr marL="982980" lvl="2" indent="-34290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Actuary: SNG Argen</a:t>
            </a:r>
          </a:p>
          <a:p>
            <a:pPr marL="982980" lvl="2" indent="-34290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Consultant: Seshego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982980" lvl="2" indent="-34290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Administrator: 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Robson Savage</a:t>
            </a:r>
          </a:p>
          <a:p>
            <a:pPr marL="982980" lvl="2" indent="-34290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Investments: 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Hollard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= investment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administrator</a:t>
            </a:r>
          </a:p>
          <a:p>
            <a:pPr marL="982980" lvl="2" indent="-34290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Investments: Riscura</a:t>
            </a: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 = </a:t>
            </a:r>
            <a:r>
              <a:rPr kumimoji="0" lang="en-US" sz="200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ontserrat" panose="00000500000000000000" pitchFamily="2" charset="0"/>
              </a:rPr>
              <a:t>portfolio constructor</a:t>
            </a:r>
          </a:p>
          <a:p>
            <a:pPr marL="982980" lvl="2" indent="-342900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ct val="95000"/>
              <a:buFontTx/>
              <a:buChar char="-"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Tracing: Baker Street Analytics</a:t>
            </a:r>
            <a:endParaRPr kumimoji="0" lang="en-US" sz="200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Arial" panose="020B0604020202020204" pitchFamily="34" charset="0"/>
              <a:buChar char="•"/>
              <a:tabLst/>
              <a:defRPr/>
            </a:pP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BA8E0C10-FA2C-05E2-CA84-FF4FAF241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22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2B7337F-D26B-D241-BD2E-7F53150AA47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23" r="17201"/>
          <a:stretch/>
        </p:blipFill>
        <p:spPr>
          <a:xfrm>
            <a:off x="0" y="-21078"/>
            <a:ext cx="12192000" cy="6900155"/>
          </a:xfrm>
          <a:prstGeom prst="rect">
            <a:avLst/>
          </a:prstGeom>
        </p:spPr>
      </p:pic>
      <p:sp>
        <p:nvSpPr>
          <p:cNvPr id="2" name="矩形 1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/>
          <p:cNvSpPr/>
          <p:nvPr/>
        </p:nvSpPr>
        <p:spPr>
          <a:xfrm>
            <a:off x="-46893" y="-21078"/>
            <a:ext cx="5158155" cy="6858000"/>
          </a:xfrm>
          <a:prstGeom prst="rect">
            <a:avLst/>
          </a:prstGeom>
          <a:blipFill dpi="0" rotWithShape="1">
            <a:blip r:embed="rId4"/>
            <a:srcRect/>
            <a:tile tx="0" ty="0" sx="70000" sy="7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B1F3E3FF-4207-46EA-ABE5-D78B94D2EE0A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23FE0-389B-ED48-8E9E-16A16E6CA2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 contrast="3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58343" y="2045072"/>
            <a:ext cx="3061749" cy="30617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EE8D8A-DC73-DE96-E6A4-A189C333C4A5}"/>
              </a:ext>
            </a:extLst>
          </p:cNvPr>
          <p:cNvSpPr txBox="1"/>
          <p:nvPr/>
        </p:nvSpPr>
        <p:spPr>
          <a:xfrm>
            <a:off x="5158154" y="-3346"/>
            <a:ext cx="70338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ZA" sz="4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Communication</a:t>
            </a:r>
            <a:endParaRPr lang="en-ZA" sz="4000" dirty="0">
              <a:solidFill>
                <a:srgbClr val="00B0F0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325F0E-CA64-D480-298A-8007950FD807}"/>
              </a:ext>
            </a:extLst>
          </p:cNvPr>
          <p:cNvSpPr txBox="1">
            <a:spLocks/>
          </p:cNvSpPr>
          <p:nvPr/>
        </p:nvSpPr>
        <p:spPr>
          <a:xfrm>
            <a:off x="5300721" y="880893"/>
            <a:ext cx="6891278" cy="2328357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marR="0" lvl="0" indent="-27432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ontserrat" panose="00000500000000000000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None/>
              <a:tabLst/>
              <a:defRPr/>
            </a:pPr>
            <a:endParaRPr kumimoji="0" lang="en-ZA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nstantia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B0A2A-337A-F83E-E959-34A453909141}"/>
              </a:ext>
            </a:extLst>
          </p:cNvPr>
          <p:cNvSpPr txBox="1"/>
          <p:nvPr/>
        </p:nvSpPr>
        <p:spPr>
          <a:xfrm>
            <a:off x="5300720" y="780325"/>
            <a:ext cx="6201696" cy="4195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000" dirty="0">
                <a:latin typeface="Montserrat" panose="00000500000000000000" pitchFamily="2" charset="0"/>
              </a:rPr>
              <a:t>Member Portal on SAMRO website</a:t>
            </a:r>
            <a:endParaRPr kumimoji="0" lang="en-US" sz="2000" i="0" u="none" strike="noStrike" kern="1200" cap="none" spc="0" normalizeH="0" baseline="0" noProof="0" dirty="0">
              <a:ln>
                <a:noFill/>
              </a:ln>
              <a:uLnTx/>
              <a:uFillTx/>
              <a:latin typeface="Montserrat" panose="00000500000000000000" pitchFamily="2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Montserrat" panose="00000500000000000000" pitchFamily="2" charset="0"/>
              </a:rPr>
              <a:t>Annual Benefit Statement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Montserrat" panose="00000500000000000000" pitchFamily="2" charset="0"/>
              </a:rPr>
              <a:t>Trustee Report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Montserrat" panose="00000500000000000000" pitchFamily="2" charset="0"/>
              </a:rPr>
              <a:t>Member Fund Booklet</a:t>
            </a:r>
            <a:endParaRPr lang="en-US" sz="2000" dirty="0">
              <a:latin typeface="Montserrat" panose="00000500000000000000" pitchFamily="2" charset="0"/>
            </a:endParaRPr>
          </a:p>
          <a:p>
            <a:pPr marL="274320" indent="-274320">
              <a:lnSpc>
                <a:spcPct val="150000"/>
              </a:lnSpc>
              <a:buClr>
                <a:srgbClr val="0BD0D9"/>
              </a:buClr>
              <a:buSzPct val="95000"/>
              <a:buFont typeface="Wingdings 2"/>
              <a:buChar char="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Montserrat" panose="00000500000000000000" pitchFamily="2" charset="0"/>
              </a:rPr>
              <a:t>AGM and EGMs</a:t>
            </a:r>
          </a:p>
          <a:p>
            <a:pPr marL="274320" indent="-274320">
              <a:lnSpc>
                <a:spcPct val="150000"/>
              </a:lnSpc>
              <a:buClr>
                <a:srgbClr val="0BD0D9"/>
              </a:buClr>
              <a:buSzPct val="95000"/>
              <a:buFont typeface="Wingdings 2"/>
              <a:buChar char="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Montserrat" panose="00000500000000000000" pitchFamily="2" charset="0"/>
              </a:rPr>
              <a:t>Investment communication and industry updates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ct val="95000"/>
              <a:buFont typeface="Wingdings 2"/>
              <a:buChar char=""/>
              <a:tabLst/>
              <a:defRPr/>
            </a:pPr>
            <a:r>
              <a:rPr lang="en-US" sz="2000" dirty="0">
                <a:latin typeface="Montserrat" panose="00000500000000000000" pitchFamily="2" charset="0"/>
              </a:rPr>
              <a:t>Robson Savage</a:t>
            </a:r>
            <a:endParaRPr lang="en-US" sz="2000" noProof="0" dirty="0">
              <a:latin typeface="Montserrat" panose="00000500000000000000" pitchFamily="2" charset="0"/>
            </a:endParaRPr>
          </a:p>
          <a:p>
            <a:pPr marL="731520" lvl="1" indent="-274320" algn="just">
              <a:lnSpc>
                <a:spcPct val="150000"/>
              </a:lnSpc>
              <a:buClr>
                <a:srgbClr val="0BD0D9"/>
              </a:buClr>
              <a:buSzPct val="95000"/>
              <a:buFont typeface="Wingdings 2"/>
              <a:buChar char=""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uLnTx/>
                <a:uFillTx/>
                <a:latin typeface="Montserrat" panose="00000500000000000000" pitchFamily="2" charset="0"/>
                <a:hlinkClick r:id="rId7"/>
              </a:rPr>
              <a:t>www.robsav.com</a:t>
            </a:r>
            <a:endParaRPr lang="en-US" sz="2000" noProof="0" dirty="0">
              <a:solidFill>
                <a:srgbClr val="0070C0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 descr="A yellow light on a black background&#10;&#10;Description automatically generated">
            <a:extLst>
              <a:ext uri="{FF2B5EF4-FFF2-40B4-BE49-F238E27FC236}">
                <a16:creationId xmlns:a16="http://schemas.microsoft.com/office/drawing/2014/main" id="{CB2BB5C2-0C7A-FFF7-E9B5-BA38B7746A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280" y="3113178"/>
            <a:ext cx="2703873" cy="9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85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7d195523061f1c0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 hidden="1">
            <a:extLst>
              <a:ext uri="{FF2B5EF4-FFF2-40B4-BE49-F238E27FC236}">
                <a16:creationId xmlns:a16="http://schemas.microsoft.com/office/drawing/2014/main" id="{281233DE-74CD-4D8C-AF6F-9FBF993561AF}"/>
              </a:ext>
            </a:extLst>
          </p:cNvPr>
          <p:cNvSpPr txBox="1"/>
          <p:nvPr/>
        </p:nvSpPr>
        <p:spPr>
          <a:xfrm>
            <a:off x="-355600" y="1803400"/>
            <a:ext cx="262251" cy="1016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/>
              <a:t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a:t>
            </a:r>
            <a:endParaRPr lang="zh-CN" altLang="en-US" sz="100"/>
          </a:p>
        </p:txBody>
      </p:sp>
      <p:sp>
        <p:nvSpPr>
          <p:cNvPr id="8" name="文本框 7" descr="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">
            <a:extLst>
              <a:ext uri="{FF2B5EF4-FFF2-40B4-BE49-F238E27FC236}">
                <a16:creationId xmlns:a16="http://schemas.microsoft.com/office/drawing/2014/main" id="{01DCC29A-0C1F-46E1-83C9-BBA280AA39C3}"/>
              </a:ext>
            </a:extLst>
          </p:cNvPr>
          <p:cNvSpPr txBox="1"/>
          <p:nvPr/>
        </p:nvSpPr>
        <p:spPr>
          <a:xfrm>
            <a:off x="0" y="3059141"/>
            <a:ext cx="76923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Note: Fund Rules/ legislation applies</a:t>
            </a:r>
          </a:p>
          <a:p>
            <a:pPr algn="ctr"/>
            <a:endParaRPr lang="en-US" altLang="zh-CN" sz="4400" b="1" dirty="0">
              <a:solidFill>
                <a:schemeClr val="bg1"/>
              </a:solidFill>
              <a:latin typeface="Montserrat" panose="02000505000000020004" pitchFamily="2" charset="0"/>
            </a:endParaRPr>
          </a:p>
          <a:p>
            <a:pPr algn="ctr"/>
            <a:endParaRPr lang="en-US" altLang="zh-CN" sz="4400" b="1" dirty="0">
              <a:solidFill>
                <a:schemeClr val="bg1"/>
              </a:solidFill>
              <a:latin typeface="Montserrat" panose="02000505000000020004" pitchFamily="2" charset="0"/>
            </a:endParaRPr>
          </a:p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Questions?</a:t>
            </a:r>
          </a:p>
        </p:txBody>
      </p:sp>
      <p:pic>
        <p:nvPicPr>
          <p:cNvPr id="20" name="Picture 19" descr="logo_whit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29" y="725714"/>
            <a:ext cx="2576286" cy="20134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066997-7D3F-526C-B06D-1B8EE7165F82}"/>
              </a:ext>
            </a:extLst>
          </p:cNvPr>
          <p:cNvSpPr txBox="1"/>
          <p:nvPr/>
        </p:nvSpPr>
        <p:spPr>
          <a:xfrm>
            <a:off x="861230" y="4663533"/>
            <a:ext cx="43916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>
              <a:buClr>
                <a:srgbClr val="00B0F0"/>
              </a:buClr>
            </a:pPr>
            <a:r>
              <a:rPr lang="en-ZA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Thank you</a:t>
            </a:r>
            <a:endParaRPr kumimoji="0" lang="en-ZA" sz="4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78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e7d195523061f1c0 xmlns="http://e7d195523061f1c0/custom/data/def">
  <_7b1dac89e7d195523061f1c0316ecb71 xmlns="">e7d195523061f1c08d347f6bf0421bdacd46f3c1815d51b81E1CE79090F8942429A56C6AE2B3163BABA1A3FCE285BEC4FF43A5085572A94AD2C0A17AE448F24FA68DD62479D8C0666FEB6710638384D2E85B87C784F043AD32AC2CDE2120C3C7A2CF2B8C6B56BB0904D5F441F7718F793755F2528EE64FF5C2E9583248A4E146CCF4B537032B9672C2D300D2198B4C43</_7b1dac89e7d195523061f1c0316ecb71>
</e7d195523061f1c0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180D52062BC0449AEAC1CE23455F80" ma:contentTypeVersion="930" ma:contentTypeDescription="Create a new document." ma:contentTypeScope="" ma:versionID="a0ce3482aa986f566ec4b9aca379ee37">
  <xsd:schema xmlns:xsd="http://www.w3.org/2001/XMLSchema" xmlns:xs="http://www.w3.org/2001/XMLSchema" xmlns:p="http://schemas.microsoft.com/office/2006/metadata/properties" xmlns:ns2="ffcaf071-c6b0-4ed1-808f-aba668df718a" xmlns:ns3="6454f67a-8cad-4590-8d56-c5fa0f72a694" targetNamespace="http://schemas.microsoft.com/office/2006/metadata/properties" ma:root="true" ma:fieldsID="8240c8e6aa2d5819dbccb2d05e0bcccd" ns2:_="" ns3:_="">
    <xsd:import namespace="ffcaf071-c6b0-4ed1-808f-aba668df718a"/>
    <xsd:import namespace="6454f67a-8cad-4590-8d56-c5fa0f72a69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caf071-c6b0-4ed1-808f-aba668df71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1c27befa-f533-47a2-81cf-1906496f32e4}" ma:internalName="TaxCatchAll" ma:showField="CatchAllData" ma:web="ffcaf071-c6b0-4ed1-808f-aba668df71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4f67a-8cad-4590-8d56-c5fa0f72a6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baecac46-a59c-4da4-beed-84433aed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fcaf071-c6b0-4ed1-808f-aba668df718a">PKHPF435NKZ3-2086493138-706433</_dlc_DocId>
    <_dlc_DocIdUrl xmlns="ffcaf071-c6b0-4ed1-808f-aba668df718a">
      <Url>https://seshegobenefitconsulting.sharepoint.com/sites/SBC_Clients/_layouts/15/DocIdRedir.aspx?ID=PKHPF435NKZ3-2086493138-706433</Url>
      <Description>PKHPF435NKZ3-2086493138-706433</Description>
    </_dlc_DocIdUrl>
    <lcf76f155ced4ddcb4097134ff3c332f xmlns="6454f67a-8cad-4590-8d56-c5fa0f72a694">
      <Terms xmlns="http://schemas.microsoft.com/office/infopath/2007/PartnerControls"/>
    </lcf76f155ced4ddcb4097134ff3c332f>
    <TaxCatchAll xmlns="ffcaf071-c6b0-4ed1-808f-aba668df718a" xsi:nil="true"/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ADB0B2-C7DC-4BF2-BADE-CAAF93154DFB}">
  <ds:schemaRefs>
    <ds:schemaRef ds:uri="http://e7d195523061f1c0/custom/data/def"/>
    <ds:schemaRef ds:uri=""/>
  </ds:schemaRefs>
</ds:datastoreItem>
</file>

<file path=customXml/itemProps2.xml><?xml version="1.0" encoding="utf-8"?>
<ds:datastoreItem xmlns:ds="http://schemas.openxmlformats.org/officeDocument/2006/customXml" ds:itemID="{76EBE0A4-8907-48FC-A844-CD46DFDC035F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5CB432F5-A3EB-4B78-B194-7DAE5C8A72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caf071-c6b0-4ed1-808f-aba668df718a"/>
    <ds:schemaRef ds:uri="6454f67a-8cad-4590-8d56-c5fa0f72a6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47174DD-654A-4DEC-9ABC-B75B5FE8C1A7}">
  <ds:schemaRefs>
    <ds:schemaRef ds:uri="http://purl.org/dc/terms/"/>
    <ds:schemaRef ds:uri="http://schemas.microsoft.com/office/2006/documentManagement/types"/>
    <ds:schemaRef ds:uri="6454f67a-8cad-4590-8d56-c5fa0f72a694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fcaf071-c6b0-4ed1-808f-aba668df718a"/>
    <ds:schemaRef ds:uri="http://schemas.microsoft.com/office/2006/metadata/properties"/>
  </ds:schemaRefs>
</ds:datastoreItem>
</file>

<file path=customXml/itemProps5.xml><?xml version="1.0" encoding="utf-8"?>
<ds:datastoreItem xmlns:ds="http://schemas.openxmlformats.org/officeDocument/2006/customXml" ds:itemID="{592BB1B8-8B9C-4700-9D8C-F5618CAABAF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3677</TotalTime>
  <Words>1446</Words>
  <Application>Microsoft Office PowerPoint</Application>
  <PresentationFormat>Widescreen</PresentationFormat>
  <Paragraphs>234</Paragraphs>
  <Slides>18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TAX APPLICABLE ON WITHDRAWAL AND RETIREMENT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©PPTSTORE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PPTWORK</dc:creator>
  <dc:description>©PPTSTORE 版权所有</dc:description>
  <cp:lastModifiedBy>Nonkululeko Lephoko</cp:lastModifiedBy>
  <cp:revision>148</cp:revision>
  <cp:lastPrinted>2024-05-02T05:21:39Z</cp:lastPrinted>
  <dcterms:created xsi:type="dcterms:W3CDTF">2018-01-26T09:06:32Z</dcterms:created>
  <dcterms:modified xsi:type="dcterms:W3CDTF">2026-01-26T13:07:42Z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0x01010002180D52062BC0449AEAC1CE23455F80</vt:lpwstr>
  </property>
  <property fmtid="{D5CDD505-2E9C-101B-9397-08002B2CF9AE}" pid="3" name="Order">
    <vt:r8>705800</vt:r8>
  </property>
  <property fmtid="{D5CDD505-2E9C-101B-9397-08002B2CF9AE}" pid="4" name="MediaServiceImageTags">
    <vt:lpwstr/>
  </property>
  <property fmtid="{D5CDD505-2E9C-101B-9397-08002B2CF9AE}" pid="5" name="_dlc_DocIdItemGuid">
    <vt:lpwstr>792f51ee-a1b4-406d-af2a-8ae6e01255f6</vt:lpwstr>
  </property>
</Properties>
</file>